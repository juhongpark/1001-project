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94A3B8"/>
                </a:solidFill>
                <a:latin typeface="Calibri"/>
              </a:defRPr>
            </a:pPr>
            <a:r>
              <a:t>SafeRoute Boston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0">
                <a:solidFill>
                  <a:srgbClr val="FFFFFF"/>
                </a:solidFill>
                <a:latin typeface="Calibri"/>
              </a:defRPr>
            </a:pPr>
            <a:r>
              <a:t>Every map finds the fastest path.</a:t>
            </a:r>
          </a:p>
          <a:p>
            <a:pPr algn="ctr">
              <a:defRPr sz="3000" b="1">
                <a:solidFill>
                  <a:srgbClr val="F59E0B"/>
                </a:solidFill>
                <a:latin typeface="Calibri"/>
              </a:defRPr>
            </a:pPr>
            <a:r>
              <a:t>No map finds the path that protects you.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4087" y="2331720"/>
            <a:ext cx="5303520" cy="502920"/>
          </a:xfrm>
          <a:prstGeom prst="roundRect">
            <a:avLst>
              <a:gd name="adj" fmla="val 15000"/>
            </a:avLst>
          </a:prstGeom>
          <a:solidFill>
            <a:srgbClr val="1A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D9972B"/>
                </a:solidFill>
                <a:latin typeface="Calibri"/>
              </a:defRPr>
            </a:pPr>
            <a:r>
              <a:t>"Right now, from here, which way?"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00400" y="3246120"/>
            <a:ext cx="5790895" cy="0"/>
          </a:xfrm>
          <a:prstGeom prst="line">
            <a:avLst/>
          </a:prstGeom>
          <a:ln w="127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1912467" y="3520440"/>
            <a:ext cx="1920240" cy="457200"/>
          </a:xfrm>
          <a:prstGeom prst="roundRect">
            <a:avLst>
              <a:gd name="adj" fmla="val 15000"/>
            </a:avLst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Shade</a:t>
            </a:r>
            <a:r>
              <a:rPr sz="1000" b="0">
                <a:solidFill>
                  <a:srgbClr val="64748B"/>
                </a:solidFill>
                <a:latin typeface="Calibri"/>
              </a:rPr>
              <a:t>  Sun protection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1307" y="3520440"/>
            <a:ext cx="1920240" cy="457200"/>
          </a:xfrm>
          <a:prstGeom prst="roundRect">
            <a:avLst>
              <a:gd name="adj" fmla="val 15000"/>
            </a:avLst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Light</a:t>
            </a:r>
            <a:r>
              <a:rPr sz="1000" b="0">
                <a:solidFill>
                  <a:srgbClr val="64748B"/>
                </a:solidFill>
                <a:latin typeface="Calibri"/>
              </a:rPr>
              <a:t>  Night visibility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3520440"/>
            <a:ext cx="1920240" cy="457200"/>
          </a:xfrm>
          <a:prstGeom prst="roundRect">
            <a:avLst>
              <a:gd name="adj" fmla="val 15000"/>
            </a:avLst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Dry</a:t>
            </a:r>
            <a:r>
              <a:rPr sz="1000" b="0">
                <a:solidFill>
                  <a:srgbClr val="64748B"/>
                </a:solidFill>
                <a:latin typeface="Calibri"/>
              </a:rPr>
              <a:t>  Rain routing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8987" y="3520440"/>
            <a:ext cx="1920240" cy="457200"/>
          </a:xfrm>
          <a:prstGeom prst="roundRect">
            <a:avLst>
              <a:gd name="adj" fmla="val 15000"/>
            </a:avLst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Grip</a:t>
            </a:r>
            <a:r>
              <a:rPr sz="1000" b="0">
                <a:solidFill>
                  <a:srgbClr val="64748B"/>
                </a:solidFill>
                <a:latin typeface="Calibri"/>
              </a:rPr>
              <a:t>  Ice safety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14216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64748B"/>
                </a:solidFill>
                <a:latin typeface="Calibri"/>
              </a:defRPr>
            </a:pPr>
            <a:r>
              <a:t>auto-switching by time + weather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1067" y="4251960"/>
            <a:ext cx="1600200" cy="384048"/>
          </a:xfrm>
          <a:prstGeom prst="roundRect">
            <a:avLst>
              <a:gd name="adj" fmla="val 15000"/>
            </a:avLst>
          </a:prstGeom>
          <a:solidFill>
            <a:srgbClr val="5B8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Sun + 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4419" y="43342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4187" y="4251960"/>
            <a:ext cx="1600200" cy="384048"/>
          </a:xfrm>
          <a:prstGeom prst="roundRect">
            <a:avLst>
              <a:gd name="adj" fmla="val 15000"/>
            </a:avLst>
          </a:prstGeom>
          <a:solidFill>
            <a:srgbClr val="5B8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Shadow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7539" y="43342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7307" y="4251960"/>
            <a:ext cx="1600200" cy="384048"/>
          </a:xfrm>
          <a:prstGeom prst="roundRect">
            <a:avLst>
              <a:gd name="adj" fmla="val 15000"/>
            </a:avLst>
          </a:prstGeom>
          <a:solidFill>
            <a:srgbClr val="5B8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FFFFFF"/>
                </a:solidFill>
                <a:latin typeface="Calibri"/>
              </a:defRPr>
            </a:pPr>
            <a:r>
              <a:t>Weighted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0659" y="43342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50427" y="4251960"/>
            <a:ext cx="1600200" cy="384048"/>
          </a:xfrm>
          <a:prstGeom prst="roundRect">
            <a:avLst>
              <a:gd name="adj" fmla="val 15000"/>
            </a:avLst>
          </a:prstGeom>
          <a:solidFill>
            <a:srgbClr val="D99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F172A"/>
                </a:solidFill>
                <a:latin typeface="Calibri"/>
              </a:defRPr>
            </a:pPr>
            <a:r>
              <a:t>Safe Route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72584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64748B"/>
                </a:solidFill>
                <a:latin typeface="Calibri"/>
              </a:defRPr>
            </a:pPr>
            <a:r>
              <a:t>+ streetlights, trees, crime, crash data layers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74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128K buildings  │  74K streetlights  │  257K+ incidents  │  real-time UV / AQI / weather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32120"/>
            <a:ext cx="105457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64748B"/>
                </a:solidFill>
                <a:latin typeface="Calibri"/>
              </a:defRPr>
            </a:pPr>
            <a:r>
              <a:t>Says "I don't know" when data is insufficient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035040"/>
            <a:ext cx="8869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1">
                <a:solidFill>
                  <a:srgbClr val="64748B"/>
                </a:solidFill>
                <a:latin typeface="Calibri"/>
              </a:defRPr>
            </a:pPr>
            <a:r>
              <a:t>In the light of day, we shield you from the sun.  In the dark of night, we guide you to the light.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